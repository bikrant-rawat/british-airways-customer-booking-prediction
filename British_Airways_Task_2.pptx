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1" r:id="rId10"/>
    <p:sldId id="265" r:id="rId11"/>
    <p:sldId id="267" r:id="rId12"/>
    <p:sldId id="266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4" d="100"/>
          <a:sy n="64" d="100"/>
        </p:scale>
        <p:origin x="75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EFCAA9-4617-4C43-913C-46012BCB97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9CC9D6-41A2-49FC-8B21-AD32FC42D1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342B71-D13B-4144-AF63-51DC4AF25C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B7EFC-4ACD-481F-B825-BFB2513CA767}" type="datetimeFigureOut">
              <a:rPr lang="en-IN" smtClean="0"/>
              <a:t>26-12-2025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0A370E-6249-4A35-A53E-F57E35B944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9C501D-8C4B-42A2-B875-EB553B8FB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5A94C-4369-476C-BC04-50F2A50222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82220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F31068-F1F1-4098-A082-1E89EF1D24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D69E4D-2FE9-4B33-B84E-65ADEE842D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E69788-A08C-4614-ACA1-DA04F468BB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B7EFC-4ACD-481F-B825-BFB2513CA767}" type="datetimeFigureOut">
              <a:rPr lang="en-IN" smtClean="0"/>
              <a:t>26-12-2025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47FA82-C800-42C7-999D-CAFF0C5278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1C36D5-7815-4114-87F3-E11D15CAE0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5A94C-4369-476C-BC04-50F2A50222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98559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3A8524-F2AD-4F6C-9A13-746321BFCA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C8F669-B11B-4BAC-8CEC-E4413DA148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57D15A-9257-4E11-9049-01B6578F56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B7EFC-4ACD-481F-B825-BFB2513CA767}" type="datetimeFigureOut">
              <a:rPr lang="en-IN" smtClean="0"/>
              <a:t>26-12-2025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85119D-1AD5-4CC2-B097-C18CFDCAB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F2B2FA-2300-4305-93BF-006EE793C5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5A94C-4369-476C-BC04-50F2A50222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68913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32474D-367D-4E11-B3C6-9FE23478EF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7032E5-C4D8-47E7-A0FF-D120E0EFCF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270353-DD84-4E3D-B334-8829974739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82648F-9D64-4E5C-AFAA-6F26FBE9C5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B7EFC-4ACD-481F-B825-BFB2513CA767}" type="datetimeFigureOut">
              <a:rPr lang="en-IN" smtClean="0"/>
              <a:t>26-12-2025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B3A46F-5BAC-4ABE-B8DA-AC6692894F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8C6377-952A-43E6-BC8D-CE3817400B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5A94C-4369-476C-BC04-50F2A50222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20726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8BB3EC-A7F6-488F-BDE0-53D88267D1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0AEF0F-AADA-4264-A6A3-25120BF8CE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7D0364-CFE1-4746-9BBE-2DC01C4E56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43E2C2B-9ACF-419C-96E0-6428AE465D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DD8EB51-9D43-4F1F-991E-088BCF68E4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6E1735D-833B-45DE-8817-AF09C872E6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B7EFC-4ACD-481F-B825-BFB2513CA767}" type="datetimeFigureOut">
              <a:rPr lang="en-IN" smtClean="0"/>
              <a:t>26-12-2025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465B1E9-286A-4412-B8A4-48E70CABA5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229BE94-3E35-47B3-AE56-457A060DAC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5A94C-4369-476C-BC04-50F2A50222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26858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A84E26-CF23-4408-97D3-02CFECB330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4B614E1-E396-4C89-AC3D-38A7070476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B7EFC-4ACD-481F-B825-BFB2513CA767}" type="datetimeFigureOut">
              <a:rPr lang="en-IN" smtClean="0"/>
              <a:t>26-12-2025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E606EC-6CD7-4786-8D74-3F9E740062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A96965-B31E-491A-891A-05D1949021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5A94C-4369-476C-BC04-50F2A50222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47926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B7E801F-0678-47E4-98AC-522D593902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B7EFC-4ACD-481F-B825-BFB2513CA767}" type="datetimeFigureOut">
              <a:rPr lang="en-IN" smtClean="0"/>
              <a:t>26-12-2025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297B383-2332-41D9-828E-4045E6992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6D3DF3-04E9-4329-9A3B-918955130B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5A94C-4369-476C-BC04-50F2A50222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9129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38B08F-29EA-4E7F-94E3-E76F868A7F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C64EAD-F985-43B1-9200-603EB46D8E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D04E3E-FAD7-4E41-A35F-13559305C8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725287-2959-454E-9A8E-935707CCD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B7EFC-4ACD-481F-B825-BFB2513CA767}" type="datetimeFigureOut">
              <a:rPr lang="en-IN" smtClean="0"/>
              <a:t>26-12-2025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603823-5897-4DA1-921A-8C2D2FDFB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3BD60C-95B7-4089-B625-AD7DEB26B7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5A94C-4369-476C-BC04-50F2A50222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19193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7065E0-1175-41A4-BDD9-DC11D21ED1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56492A2-0601-4C46-9FFF-7086C8D893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4AD69C-DA7D-4121-AD53-42CA834943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389D98-4BBE-4383-A921-64C1EDA1E2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B7EFC-4ACD-481F-B825-BFB2513CA767}" type="datetimeFigureOut">
              <a:rPr lang="en-IN" smtClean="0"/>
              <a:t>26-12-2025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296362-3A2C-4BED-9465-11C3A8EE86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70AC07-3F97-4B75-ACD5-DDC090CF0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5A94C-4369-476C-BC04-50F2A50222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33091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500B29-9CC6-4507-A90D-1555D96174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8208D4-5FD9-4C0B-A3A6-683A8EB833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C10AE6-F33B-4C52-9B55-5EB278D726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B7EFC-4ACD-481F-B825-BFB2513CA767}" type="datetimeFigureOut">
              <a:rPr lang="en-IN" smtClean="0"/>
              <a:t>26-12-2025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9E5499-5138-416D-AA40-A45B5D2D2E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314DCB-E1EE-41B3-8A56-FAAB128248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5A94C-4369-476C-BC04-50F2A50222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87516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49BD7CD-E87E-40F6-A296-9D24226F15E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D81EF1-298B-4CAA-BEAE-BA428E1AAE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DA9F7E-33CC-4A9A-9341-6DF4460886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B7EFC-4ACD-481F-B825-BFB2513CA767}" type="datetimeFigureOut">
              <a:rPr lang="en-IN" smtClean="0"/>
              <a:t>26-12-2025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B5A876-5727-4FFE-AB29-5D64BC9200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5DFD34-252A-4892-A23F-05CB67899E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5A94C-4369-476C-BC04-50F2A50222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25655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4747433-78EB-4779-B606-9809DA32C1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FD5B41-7ECD-4F69-BB60-149109DBC4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69603B-630A-40D7-8AC4-FA77356A5E1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5B7EFC-4ACD-481F-B825-BFB2513CA767}" type="datetimeFigureOut">
              <a:rPr lang="en-IN" smtClean="0"/>
              <a:t>26-12-2025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197202-2606-4C4F-B267-7493C18B6DA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C5D4C5-E4E9-4A55-BEE0-23DA6E56A4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65A94C-4369-476C-BC04-50F2A50222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161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bikrant-rawat/" TargetMode="External"/><Relationship Id="rId2" Type="http://schemas.openxmlformats.org/officeDocument/2006/relationships/hyperlink" Target="https://github.com/BIKRANT-RAWAT/British-Airways-Customer-Booking-Prediction/tree/mai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9826787-D60C-44AD-BDB8-779016EE5745}"/>
              </a:ext>
            </a:extLst>
          </p:cNvPr>
          <p:cNvSpPr/>
          <p:nvPr/>
        </p:nvSpPr>
        <p:spPr>
          <a:xfrm>
            <a:off x="-2604052" y="721092"/>
            <a:ext cx="17692887" cy="107721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2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British Airways – Booking Completion Prediction</a:t>
            </a:r>
          </a:p>
          <a:p>
            <a:pPr algn="ctr"/>
            <a:r>
              <a:rPr lang="en-US" sz="32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Predicting customer booking behavior using Machine Learning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6C5BEFB-DDE3-44EF-A3B1-F99922C6A1BF}"/>
              </a:ext>
            </a:extLst>
          </p:cNvPr>
          <p:cNvSpPr/>
          <p:nvPr/>
        </p:nvSpPr>
        <p:spPr>
          <a:xfrm>
            <a:off x="1044360" y="4070578"/>
            <a:ext cx="10103279" cy="255454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n-US" sz="32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Presented by: </a:t>
            </a:r>
            <a:r>
              <a:rPr lang="en-US" sz="3200" b="1" spc="50" dirty="0" err="1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Bikrant</a:t>
            </a:r>
            <a:r>
              <a:rPr lang="en-US" sz="32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Rawat</a:t>
            </a:r>
          </a:p>
          <a:p>
            <a:pPr algn="ctr"/>
            <a:r>
              <a:rPr lang="en-US" sz="32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Domain: Aviation Analytics  </a:t>
            </a:r>
          </a:p>
          <a:p>
            <a:pPr algn="ctr"/>
            <a:r>
              <a:rPr lang="en-US" sz="3200" b="1" spc="50" dirty="0" err="1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Github</a:t>
            </a:r>
            <a:r>
              <a:rPr lang="en-US" sz="32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link : </a:t>
            </a:r>
            <a:r>
              <a:rPr lang="en-US" sz="32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hlinkClick r:id="rId2"/>
              </a:rPr>
              <a:t>Click here</a:t>
            </a:r>
            <a:endParaRPr lang="en-US" sz="3200" b="1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  <a:p>
            <a:pPr algn="ctr"/>
            <a:r>
              <a:rPr lang="en-US" sz="3200" b="1" spc="50" dirty="0" err="1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Linkedin</a:t>
            </a:r>
            <a:r>
              <a:rPr lang="en-US" sz="32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Profile : </a:t>
            </a:r>
            <a:r>
              <a:rPr lang="en-US" sz="32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hlinkClick r:id="rId3"/>
              </a:rPr>
              <a:t>Click here</a:t>
            </a:r>
            <a:endParaRPr lang="en-US" sz="3200" b="1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  <a:p>
            <a:pPr algn="ctr"/>
            <a:r>
              <a:rPr lang="en-US" sz="32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Data </a:t>
            </a:r>
            <a:r>
              <a:rPr lang="en-US" sz="3200" b="1" spc="50" dirty="0" err="1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ScienceTools</a:t>
            </a:r>
            <a:r>
              <a:rPr lang="en-US" sz="32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: Python, Machine Learning, </a:t>
            </a:r>
            <a:r>
              <a:rPr lang="en-US" sz="3200" b="1" spc="50" dirty="0" err="1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LightGBM</a:t>
            </a:r>
            <a:endParaRPr lang="en-US" sz="3200" b="1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5753565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5248E0E-0244-4D4B-992E-D4C3A0672F49}"/>
              </a:ext>
            </a:extLst>
          </p:cNvPr>
          <p:cNvSpPr/>
          <p:nvPr/>
        </p:nvSpPr>
        <p:spPr>
          <a:xfrm>
            <a:off x="1004172" y="405110"/>
            <a:ext cx="524970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Business Problem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A8539DF-3C42-4646-82BA-BCD86952E9D0}"/>
              </a:ext>
            </a:extLst>
          </p:cNvPr>
          <p:cNvSpPr/>
          <p:nvPr/>
        </p:nvSpPr>
        <p:spPr>
          <a:xfrm>
            <a:off x="970597" y="2748260"/>
            <a:ext cx="10100265" cy="224676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sz="28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- Airlines face significant revenue loss due to incomplete bookings</a:t>
            </a:r>
          </a:p>
          <a:p>
            <a:r>
              <a:rPr lang="en-US" sz="28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- Customers often abandon bookings at the final stage</a:t>
            </a:r>
          </a:p>
          <a:p>
            <a:r>
              <a:rPr lang="en-US" sz="28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- Lack of early visibility into which bookings are likely to fail</a:t>
            </a:r>
          </a:p>
          <a:p>
            <a:endParaRPr lang="en-US" sz="28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  <a:p>
            <a:r>
              <a:rPr lang="en-US" sz="28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- Goal: Predict whether a booking will be completed or abandoned</a:t>
            </a:r>
          </a:p>
        </p:txBody>
      </p:sp>
    </p:spTree>
    <p:extLst>
      <p:ext uri="{BB962C8B-B14F-4D97-AF65-F5344CB8AC3E}">
        <p14:creationId xmlns:p14="http://schemas.microsoft.com/office/powerpoint/2010/main" val="26800571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5248E0E-0244-4D4B-992E-D4C3A0672F49}"/>
              </a:ext>
            </a:extLst>
          </p:cNvPr>
          <p:cNvSpPr/>
          <p:nvPr/>
        </p:nvSpPr>
        <p:spPr>
          <a:xfrm>
            <a:off x="1004172" y="405110"/>
            <a:ext cx="524970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Dataset Overview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A8539DF-3C42-4646-82BA-BCD86952E9D0}"/>
              </a:ext>
            </a:extLst>
          </p:cNvPr>
          <p:cNvSpPr/>
          <p:nvPr/>
        </p:nvSpPr>
        <p:spPr>
          <a:xfrm>
            <a:off x="970597" y="2748260"/>
            <a:ext cx="8269572" cy="181588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marL="457200" indent="-457200">
              <a:buFontTx/>
              <a:buChar char="-"/>
            </a:pPr>
            <a:r>
              <a:rPr lang="en-US" sz="28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Source: British Airways (via Forage)</a:t>
            </a:r>
          </a:p>
          <a:p>
            <a:pPr marL="457200" indent="-457200">
              <a:buFontTx/>
              <a:buChar char="-"/>
            </a:pPr>
            <a:r>
              <a:rPr lang="en-US" sz="28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Records: ~50,000 bookings</a:t>
            </a:r>
          </a:p>
          <a:p>
            <a:pPr marL="457200" indent="-457200">
              <a:buFontTx/>
              <a:buChar char="-"/>
            </a:pPr>
            <a:r>
              <a:rPr lang="en-US" sz="28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Features: 14</a:t>
            </a:r>
          </a:p>
          <a:p>
            <a:pPr marL="457200" indent="-457200">
              <a:buFontTx/>
              <a:buChar char="-"/>
            </a:pPr>
            <a:r>
              <a:rPr lang="en-US" sz="28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Target Variable: </a:t>
            </a:r>
            <a:r>
              <a:rPr lang="en-US" sz="2800" b="1" dirty="0" err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booking_complete</a:t>
            </a:r>
            <a:r>
              <a:rPr lang="en-US" sz="28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 (0 = No, 1 = Yes)</a:t>
            </a:r>
          </a:p>
        </p:txBody>
      </p:sp>
    </p:spTree>
    <p:extLst>
      <p:ext uri="{BB962C8B-B14F-4D97-AF65-F5344CB8AC3E}">
        <p14:creationId xmlns:p14="http://schemas.microsoft.com/office/powerpoint/2010/main" val="40079654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5248E0E-0244-4D4B-992E-D4C3A0672F49}"/>
              </a:ext>
            </a:extLst>
          </p:cNvPr>
          <p:cNvSpPr/>
          <p:nvPr/>
        </p:nvSpPr>
        <p:spPr>
          <a:xfrm>
            <a:off x="1004172" y="405110"/>
            <a:ext cx="524970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Project Workflow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A8539DF-3C42-4646-82BA-BCD86952E9D0}"/>
              </a:ext>
            </a:extLst>
          </p:cNvPr>
          <p:cNvSpPr/>
          <p:nvPr/>
        </p:nvSpPr>
        <p:spPr>
          <a:xfrm>
            <a:off x="970597" y="2748260"/>
            <a:ext cx="5778698" cy="224676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marL="457200" indent="-457200">
              <a:buFontTx/>
              <a:buChar char="-"/>
            </a:pPr>
            <a:r>
              <a:rPr lang="en-US" sz="28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Data Preprocessing</a:t>
            </a:r>
          </a:p>
          <a:p>
            <a:pPr marL="457200" indent="-457200">
              <a:buFontTx/>
              <a:buChar char="-"/>
            </a:pPr>
            <a:r>
              <a:rPr lang="en-US" sz="28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Exploratory Data Analysis (EDA)</a:t>
            </a:r>
          </a:p>
          <a:p>
            <a:pPr marL="457200" indent="-457200">
              <a:buFontTx/>
              <a:buChar char="-"/>
            </a:pPr>
            <a:r>
              <a:rPr lang="en-US" sz="28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Feature Engineering</a:t>
            </a:r>
          </a:p>
          <a:p>
            <a:pPr marL="457200" indent="-457200">
              <a:buFontTx/>
              <a:buChar char="-"/>
            </a:pPr>
            <a:r>
              <a:rPr lang="en-US" sz="28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Model Evaluation &amp; Interpretation</a:t>
            </a:r>
          </a:p>
          <a:p>
            <a:pPr marL="457200" indent="-457200">
              <a:buFontTx/>
              <a:buChar char="-"/>
            </a:pPr>
            <a:r>
              <a:rPr lang="en-US" sz="28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Deployment via </a:t>
            </a:r>
            <a:r>
              <a:rPr lang="en-US" sz="2800" b="1" dirty="0" err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Streamlit</a:t>
            </a:r>
            <a:endParaRPr lang="en-US" sz="28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0511769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5248E0E-0244-4D4B-992E-D4C3A0672F49}"/>
              </a:ext>
            </a:extLst>
          </p:cNvPr>
          <p:cNvSpPr/>
          <p:nvPr/>
        </p:nvSpPr>
        <p:spPr>
          <a:xfrm>
            <a:off x="1264550" y="328910"/>
            <a:ext cx="928190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Exploratory Data Analysis (EDA)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A8539DF-3C42-4646-82BA-BCD86952E9D0}"/>
              </a:ext>
            </a:extLst>
          </p:cNvPr>
          <p:cNvSpPr/>
          <p:nvPr/>
        </p:nvSpPr>
        <p:spPr>
          <a:xfrm>
            <a:off x="970597" y="2748260"/>
            <a:ext cx="9529532" cy="181588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marL="457200" indent="-457200">
              <a:buFontTx/>
              <a:buChar char="-"/>
            </a:pPr>
            <a:r>
              <a:rPr lang="en-US" sz="28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Longer purchase lead time increases completion probability</a:t>
            </a:r>
          </a:p>
          <a:p>
            <a:pPr marL="457200" indent="-457200">
              <a:buFontTx/>
              <a:buChar char="-"/>
            </a:pPr>
            <a:r>
              <a:rPr lang="en-US" sz="28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Customers opting for extra services show higher intent</a:t>
            </a:r>
          </a:p>
          <a:p>
            <a:pPr marL="457200" indent="-457200">
              <a:buFontTx/>
              <a:buChar char="-"/>
            </a:pPr>
            <a:r>
              <a:rPr lang="en-US" sz="28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Booking completion varies by flight day and time</a:t>
            </a:r>
          </a:p>
          <a:p>
            <a:pPr marL="457200" indent="-457200">
              <a:buFontTx/>
              <a:buChar char="-"/>
            </a:pPr>
            <a:r>
              <a:rPr lang="en-US" sz="28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Behavioral features outperform simple flight attributes</a:t>
            </a:r>
          </a:p>
        </p:txBody>
      </p:sp>
    </p:spTree>
    <p:extLst>
      <p:ext uri="{BB962C8B-B14F-4D97-AF65-F5344CB8AC3E}">
        <p14:creationId xmlns:p14="http://schemas.microsoft.com/office/powerpoint/2010/main" val="4095910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9FD0A71-AFF8-434E-A0D4-0695D74D695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5633" y="139699"/>
            <a:ext cx="6713842" cy="4460875"/>
          </a:xfr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D436B78-EB17-43A6-9AF7-A2E7F79D818B}"/>
              </a:ext>
            </a:extLst>
          </p:cNvPr>
          <p:cNvSpPr txBox="1"/>
          <p:nvPr/>
        </p:nvSpPr>
        <p:spPr>
          <a:xfrm>
            <a:off x="447675" y="920750"/>
            <a:ext cx="4610100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sz="1400" dirty="0" err="1">
                <a:solidFill>
                  <a:schemeClr val="bg1"/>
                </a:solidFill>
              </a:rPr>
              <a:t>num_passengers</a:t>
            </a:r>
            <a:r>
              <a:rPr lang="en-US" sz="1400" dirty="0">
                <a:solidFill>
                  <a:schemeClr val="bg1"/>
                </a:solidFill>
              </a:rPr>
              <a:t>: The distribution shows a high density around 1 and 2 passengers, with fewer bookings for larger groups.</a:t>
            </a:r>
          </a:p>
          <a:p>
            <a:pPr marL="285750" indent="-285750">
              <a:buFontTx/>
              <a:buChar char="-"/>
            </a:pPr>
            <a:endParaRPr lang="en-US" sz="1400" dirty="0">
              <a:solidFill>
                <a:schemeClr val="bg1"/>
              </a:solidFill>
            </a:endParaRPr>
          </a:p>
          <a:p>
            <a:pPr marL="285750" indent="-285750">
              <a:buFontTx/>
              <a:buChar char="-"/>
            </a:pPr>
            <a:r>
              <a:rPr lang="en-US" sz="1400" dirty="0" err="1">
                <a:solidFill>
                  <a:schemeClr val="bg1"/>
                </a:solidFill>
              </a:rPr>
              <a:t>purchase_lead</a:t>
            </a:r>
            <a:r>
              <a:rPr lang="en-US" sz="1400" dirty="0">
                <a:solidFill>
                  <a:schemeClr val="bg1"/>
                </a:solidFill>
              </a:rPr>
              <a:t>: Most bookings have a short lead time, with density rapidly decreasing as the number of days before arrival increases.</a:t>
            </a:r>
          </a:p>
          <a:p>
            <a:pPr marL="285750" indent="-285750">
              <a:buFontTx/>
              <a:buChar char="-"/>
            </a:pPr>
            <a:endParaRPr lang="en-US" sz="1400" dirty="0">
              <a:solidFill>
                <a:schemeClr val="bg1"/>
              </a:solidFill>
            </a:endParaRPr>
          </a:p>
          <a:p>
            <a:pPr marL="285750" indent="-285750">
              <a:buFontTx/>
              <a:buChar char="-"/>
            </a:pPr>
            <a:r>
              <a:rPr lang="en-US" sz="1400" dirty="0" err="1">
                <a:solidFill>
                  <a:schemeClr val="bg1"/>
                </a:solidFill>
              </a:rPr>
              <a:t>length_of_stay</a:t>
            </a:r>
            <a:r>
              <a:rPr lang="en-US" sz="1400" dirty="0">
                <a:solidFill>
                  <a:schemeClr val="bg1"/>
                </a:solidFill>
              </a:rPr>
              <a:t>: The majority of stays are short, with the highest density near 0-10 days.</a:t>
            </a:r>
          </a:p>
          <a:p>
            <a:pPr marL="285750" indent="-285750">
              <a:buFontTx/>
              <a:buChar char="-"/>
            </a:pPr>
            <a:endParaRPr lang="en-US" sz="1400" dirty="0">
              <a:solidFill>
                <a:schemeClr val="bg1"/>
              </a:solidFill>
            </a:endParaRPr>
          </a:p>
          <a:p>
            <a:pPr marL="285750" indent="-285750">
              <a:buFontTx/>
              <a:buChar char="-"/>
            </a:pPr>
            <a:r>
              <a:rPr lang="en-US" sz="1400" dirty="0" err="1">
                <a:solidFill>
                  <a:schemeClr val="bg1"/>
                </a:solidFill>
              </a:rPr>
              <a:t>flight_hour</a:t>
            </a:r>
            <a:r>
              <a:rPr lang="en-US" sz="1400" dirty="0">
                <a:solidFill>
                  <a:schemeClr val="bg1"/>
                </a:solidFill>
              </a:rPr>
              <a:t>: Bookings are distributed across the day, with peaks in the morning/early afternoon and again in the evening.</a:t>
            </a:r>
          </a:p>
          <a:p>
            <a:pPr marL="285750" indent="-285750">
              <a:buFontTx/>
              <a:buChar char="-"/>
            </a:pPr>
            <a:endParaRPr lang="en-US" sz="1400" dirty="0">
              <a:solidFill>
                <a:schemeClr val="bg1"/>
              </a:solidFill>
            </a:endParaRPr>
          </a:p>
          <a:p>
            <a:pPr marL="285750" indent="-285750">
              <a:buFontTx/>
              <a:buChar char="-"/>
            </a:pPr>
            <a:r>
              <a:rPr lang="en-US" sz="1400" dirty="0" err="1">
                <a:solidFill>
                  <a:schemeClr val="bg1"/>
                </a:solidFill>
              </a:rPr>
              <a:t>flight_day</a:t>
            </a:r>
            <a:r>
              <a:rPr lang="en-US" sz="1400" dirty="0">
                <a:solidFill>
                  <a:schemeClr val="bg1"/>
                </a:solidFill>
              </a:rPr>
              <a:t>: The data exhibits a cyclical pattern, indicating relatively uniform booking density across the days of the week.</a:t>
            </a:r>
          </a:p>
          <a:p>
            <a:pPr marL="285750" indent="-285750">
              <a:buFontTx/>
              <a:buChar char="-"/>
            </a:pPr>
            <a:endParaRPr lang="en-US" sz="1400" dirty="0">
              <a:solidFill>
                <a:schemeClr val="bg1"/>
              </a:solidFill>
            </a:endParaRPr>
          </a:p>
          <a:p>
            <a:pPr marL="285750" indent="-285750">
              <a:buFontTx/>
              <a:buChar char="-"/>
            </a:pPr>
            <a:r>
              <a:rPr lang="en-US" sz="1400" dirty="0" err="1">
                <a:solidFill>
                  <a:schemeClr val="bg1"/>
                </a:solidFill>
              </a:rPr>
              <a:t>wants_extra_baggage</a:t>
            </a:r>
            <a:r>
              <a:rPr lang="en-US" sz="1400" dirty="0">
                <a:solidFill>
                  <a:schemeClr val="bg1"/>
                </a:solidFill>
              </a:rPr>
              <a:t>: This shows people who wants extra baggage (1) are twice more than who don't (0).</a:t>
            </a:r>
          </a:p>
          <a:p>
            <a:pPr marL="285750" indent="-285750">
              <a:buFontTx/>
              <a:buChar char="-"/>
            </a:pPr>
            <a:endParaRPr lang="en-US" sz="1400" dirty="0">
              <a:solidFill>
                <a:schemeClr val="bg1"/>
              </a:solidFill>
            </a:endParaRPr>
          </a:p>
          <a:p>
            <a:pPr marL="285750" indent="-285750">
              <a:buFontTx/>
              <a:buChar char="-"/>
            </a:pPr>
            <a:r>
              <a:rPr lang="en-US" sz="1400" dirty="0" err="1">
                <a:solidFill>
                  <a:schemeClr val="bg1"/>
                </a:solidFill>
              </a:rPr>
              <a:t>wants_preferred_seat</a:t>
            </a:r>
            <a:r>
              <a:rPr lang="en-US" sz="1400" dirty="0">
                <a:solidFill>
                  <a:schemeClr val="bg1"/>
                </a:solidFill>
              </a:rPr>
              <a:t>: Passengers who want preferred seat are half the number who don't want.</a:t>
            </a:r>
          </a:p>
          <a:p>
            <a:pPr marL="285750" indent="-285750">
              <a:buFontTx/>
              <a:buChar char="-"/>
            </a:pPr>
            <a:endParaRPr lang="en-US" sz="1400" dirty="0">
              <a:solidFill>
                <a:schemeClr val="bg1"/>
              </a:solidFill>
            </a:endParaRPr>
          </a:p>
          <a:p>
            <a:pPr marL="285750" indent="-285750">
              <a:buFontTx/>
              <a:buChar char="-"/>
            </a:pPr>
            <a:r>
              <a:rPr lang="en-US" sz="1400" dirty="0" err="1">
                <a:solidFill>
                  <a:schemeClr val="bg1"/>
                </a:solidFill>
              </a:rPr>
              <a:t>wants_in_flight_meals</a:t>
            </a:r>
            <a:r>
              <a:rPr lang="en-US" sz="1400" dirty="0">
                <a:solidFill>
                  <a:schemeClr val="bg1"/>
                </a:solidFill>
              </a:rPr>
              <a:t>: Those who want meals (1) and those who do not (0), are nearly same.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714CB4C-C485-47A2-833F-F8A391803675}"/>
              </a:ext>
            </a:extLst>
          </p:cNvPr>
          <p:cNvSpPr txBox="1"/>
          <p:nvPr/>
        </p:nvSpPr>
        <p:spPr>
          <a:xfrm>
            <a:off x="5953125" y="4686976"/>
            <a:ext cx="46101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400" dirty="0">
              <a:solidFill>
                <a:schemeClr val="bg1"/>
              </a:solidFill>
            </a:endParaRPr>
          </a:p>
          <a:p>
            <a:pPr marL="285750" indent="-285750">
              <a:buFontTx/>
              <a:buChar char="-"/>
            </a:pPr>
            <a:r>
              <a:rPr lang="en-US" sz="1400" dirty="0" err="1">
                <a:solidFill>
                  <a:schemeClr val="bg1"/>
                </a:solidFill>
              </a:rPr>
              <a:t>flight_duration</a:t>
            </a:r>
            <a:r>
              <a:rPr lang="en-US" sz="1400" dirty="0">
                <a:solidFill>
                  <a:schemeClr val="bg1"/>
                </a:solidFill>
              </a:rPr>
              <a:t>: Flight durations show a multimodal distribution, with distinct peaks around 4.5, 6, 7, and 9 hours.</a:t>
            </a:r>
          </a:p>
          <a:p>
            <a:pPr marL="285750" indent="-285750">
              <a:buFontTx/>
              <a:buChar char="-"/>
            </a:pPr>
            <a:endParaRPr lang="en-US" sz="1400" dirty="0">
              <a:solidFill>
                <a:schemeClr val="bg1"/>
              </a:solidFill>
            </a:endParaRPr>
          </a:p>
          <a:p>
            <a:pPr marL="285750" indent="-285750">
              <a:buFontTx/>
              <a:buChar char="-"/>
            </a:pPr>
            <a:r>
              <a:rPr lang="en-US" sz="1400" dirty="0" err="1">
                <a:solidFill>
                  <a:schemeClr val="bg1"/>
                </a:solidFill>
              </a:rPr>
              <a:t>booking_complete</a:t>
            </a:r>
            <a:r>
              <a:rPr lang="en-US" sz="1400" dirty="0">
                <a:solidFill>
                  <a:schemeClr val="bg1"/>
                </a:solidFill>
              </a:rPr>
              <a:t>: The vast majority of instances show incomplete booking (0), while a smaller, separate group indicates otherwise (1).</a:t>
            </a:r>
            <a:endParaRPr lang="en-IN" sz="1400" dirty="0">
              <a:solidFill>
                <a:schemeClr val="bg1"/>
              </a:solidFill>
            </a:endParaRPr>
          </a:p>
          <a:p>
            <a:pPr marL="285750" indent="-285750">
              <a:buFontTx/>
              <a:buChar char="-"/>
            </a:pPr>
            <a:endParaRPr lang="en-US" sz="1400" dirty="0">
              <a:solidFill>
                <a:schemeClr val="bg1"/>
              </a:solidFill>
            </a:endParaRPr>
          </a:p>
          <a:p>
            <a:pPr marL="285750" indent="-285750">
              <a:buFontTx/>
              <a:buChar char="-"/>
            </a:pP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AC846B8-68D3-40F5-B385-BDB88EF32290}"/>
              </a:ext>
            </a:extLst>
          </p:cNvPr>
          <p:cNvSpPr txBox="1"/>
          <p:nvPr/>
        </p:nvSpPr>
        <p:spPr>
          <a:xfrm>
            <a:off x="1057275" y="285750"/>
            <a:ext cx="18573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u="sng" dirty="0">
                <a:solidFill>
                  <a:schemeClr val="bg1"/>
                </a:solidFill>
              </a:rPr>
              <a:t>KDE Plot</a:t>
            </a:r>
            <a:endParaRPr lang="en-IN" b="1" u="sng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14818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F5DB98-640D-4DFA-80D0-6667B736A7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825" y="88900"/>
            <a:ext cx="10515600" cy="1325563"/>
          </a:xfrm>
        </p:spPr>
        <p:txBody>
          <a:bodyPr/>
          <a:lstStyle/>
          <a:p>
            <a:r>
              <a:rPr lang="en-US" dirty="0" err="1">
                <a:solidFill>
                  <a:schemeClr val="bg1"/>
                </a:solidFill>
              </a:rPr>
              <a:t>HeatMap</a:t>
            </a:r>
            <a:endParaRPr lang="en-IN" dirty="0">
              <a:solidFill>
                <a:schemeClr val="bg1"/>
              </a:solidFill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0EBD355-59A0-4264-995F-A3CB480D80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5825" y="88900"/>
            <a:ext cx="6850783" cy="6709044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7826283-BB98-44AD-90B1-635FA0839423}"/>
              </a:ext>
            </a:extLst>
          </p:cNvPr>
          <p:cNvSpPr txBox="1"/>
          <p:nvPr/>
        </p:nvSpPr>
        <p:spPr>
          <a:xfrm>
            <a:off x="0" y="1200150"/>
            <a:ext cx="4514850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sz="1600" dirty="0" err="1">
                <a:solidFill>
                  <a:schemeClr val="bg1"/>
                </a:solidFill>
              </a:rPr>
              <a:t>length_of_stay</a:t>
            </a:r>
            <a:r>
              <a:rPr lang="en-US" sz="1600" dirty="0">
                <a:solidFill>
                  <a:schemeClr val="bg1"/>
                </a:solidFill>
              </a:rPr>
              <a:t> and </a:t>
            </a:r>
            <a:r>
              <a:rPr lang="en-US" sz="1600" dirty="0" err="1">
                <a:solidFill>
                  <a:schemeClr val="bg1"/>
                </a:solidFill>
              </a:rPr>
              <a:t>wants_extra_baggage</a:t>
            </a:r>
            <a:r>
              <a:rPr lang="en-US" sz="1600" dirty="0">
                <a:solidFill>
                  <a:schemeClr val="bg1"/>
                </a:solidFill>
              </a:rPr>
              <a:t>: There is a positive correlation of 0.18, suggesting that people staying longer are slightly more likely to want extra baggage.</a:t>
            </a:r>
          </a:p>
          <a:p>
            <a:pPr marL="285750" indent="-285750">
              <a:buFontTx/>
              <a:buChar char="-"/>
            </a:pPr>
            <a:endParaRPr lang="en-US" sz="1600" dirty="0">
              <a:solidFill>
                <a:schemeClr val="bg1"/>
              </a:solidFill>
            </a:endParaRPr>
          </a:p>
          <a:p>
            <a:pPr marL="285750" indent="-285750">
              <a:buFontTx/>
              <a:buChar char="-"/>
            </a:pPr>
            <a:r>
              <a:rPr lang="en-US" sz="1600" dirty="0" err="1">
                <a:solidFill>
                  <a:schemeClr val="bg1"/>
                </a:solidFill>
              </a:rPr>
              <a:t>wants_preferred_seat</a:t>
            </a:r>
            <a:r>
              <a:rPr lang="en-US" sz="1600" dirty="0">
                <a:solidFill>
                  <a:schemeClr val="bg1"/>
                </a:solidFill>
              </a:rPr>
              <a:t> and </a:t>
            </a:r>
            <a:r>
              <a:rPr lang="en-US" sz="1600" dirty="0" err="1">
                <a:solidFill>
                  <a:schemeClr val="bg1"/>
                </a:solidFill>
              </a:rPr>
              <a:t>wants_in_flight_meals</a:t>
            </a:r>
            <a:r>
              <a:rPr lang="en-US" sz="1600" dirty="0">
                <a:solidFill>
                  <a:schemeClr val="bg1"/>
                </a:solidFill>
              </a:rPr>
              <a:t>: A moderate positive correlation of 0.32 is observed, indicating a tendency for passengers who want one to also want the other.</a:t>
            </a:r>
          </a:p>
          <a:p>
            <a:pPr marL="285750" indent="-285750">
              <a:buFontTx/>
              <a:buChar char="-"/>
            </a:pPr>
            <a:endParaRPr lang="en-US" sz="1600" dirty="0">
              <a:solidFill>
                <a:schemeClr val="bg1"/>
              </a:solidFill>
            </a:endParaRPr>
          </a:p>
          <a:p>
            <a:pPr marL="285750" indent="-285750">
              <a:buFontTx/>
              <a:buChar char="-"/>
            </a:pPr>
            <a:r>
              <a:rPr lang="en-US" sz="1600" dirty="0" err="1">
                <a:solidFill>
                  <a:schemeClr val="bg1"/>
                </a:solidFill>
              </a:rPr>
              <a:t>flight_duration</a:t>
            </a:r>
            <a:r>
              <a:rPr lang="en-US" sz="1600" dirty="0">
                <a:solidFill>
                  <a:schemeClr val="bg1"/>
                </a:solidFill>
              </a:rPr>
              <a:t> and </a:t>
            </a:r>
            <a:r>
              <a:rPr lang="en-US" sz="1600" dirty="0" err="1">
                <a:solidFill>
                  <a:schemeClr val="bg1"/>
                </a:solidFill>
              </a:rPr>
              <a:t>booking_complete</a:t>
            </a:r>
            <a:r>
              <a:rPr lang="en-US" sz="1600" dirty="0">
                <a:solidFill>
                  <a:schemeClr val="bg1"/>
                </a:solidFill>
              </a:rPr>
              <a:t>: There is a negative correlation of -0.11, suggesting that longer flights are slightly less likely to have completed bookings in this dataset.</a:t>
            </a:r>
          </a:p>
          <a:p>
            <a:pPr marL="285750" indent="-285750">
              <a:buFontTx/>
              <a:buChar char="-"/>
            </a:pPr>
            <a:endParaRPr lang="en-US" sz="1600" dirty="0">
              <a:solidFill>
                <a:schemeClr val="bg1"/>
              </a:solidFill>
            </a:endParaRPr>
          </a:p>
          <a:p>
            <a:pPr marL="285750" indent="-285750">
              <a:buFontTx/>
              <a:buChar char="-"/>
            </a:pPr>
            <a:r>
              <a:rPr lang="en-US" sz="1600" dirty="0" err="1">
                <a:solidFill>
                  <a:schemeClr val="bg1"/>
                </a:solidFill>
              </a:rPr>
              <a:t>purchase_lead</a:t>
            </a:r>
            <a:r>
              <a:rPr lang="en-US" sz="1600" dirty="0">
                <a:solidFill>
                  <a:schemeClr val="bg1"/>
                </a:solidFill>
              </a:rPr>
              <a:t> and </a:t>
            </a:r>
            <a:r>
              <a:rPr lang="en-US" sz="1600" dirty="0" err="1">
                <a:solidFill>
                  <a:schemeClr val="bg1"/>
                </a:solidFill>
              </a:rPr>
              <a:t>length_of_stay</a:t>
            </a:r>
            <a:r>
              <a:rPr lang="en-US" sz="1600" dirty="0">
                <a:solidFill>
                  <a:schemeClr val="bg1"/>
                </a:solidFill>
              </a:rPr>
              <a:t>: These two variables show a negative correlation of -0.077, implying that booking further in advance is slightly associated with shorter stays.</a:t>
            </a:r>
            <a:endParaRPr lang="en-IN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7224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DF8783-C38E-4583-9CED-88D62A1587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75405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Categorical Columns vs Booking Completion</a:t>
            </a:r>
            <a:endParaRPr lang="en-IN" dirty="0">
              <a:solidFill>
                <a:schemeClr val="bg1"/>
              </a:solidFill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D3E8621-8D8D-4958-87D9-BEDBA90B4E4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4409" y="1768475"/>
            <a:ext cx="8600732" cy="4351338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9DDAF8A-230B-4EC2-9DC8-4B7110F0D233}"/>
              </a:ext>
            </a:extLst>
          </p:cNvPr>
          <p:cNvSpPr txBox="1"/>
          <p:nvPr/>
        </p:nvSpPr>
        <p:spPr>
          <a:xfrm>
            <a:off x="166859" y="1400968"/>
            <a:ext cx="3138316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sz="1600" dirty="0">
                <a:solidFill>
                  <a:schemeClr val="bg1"/>
                </a:solidFill>
              </a:rPr>
              <a:t>Sales Channel: Internet bookings have a higher completion rate than mobile bookings.</a:t>
            </a:r>
          </a:p>
          <a:p>
            <a:pPr marL="285750" indent="-285750">
              <a:buFontTx/>
              <a:buChar char="-"/>
            </a:pPr>
            <a:endParaRPr lang="en-US" sz="1600" dirty="0">
              <a:solidFill>
                <a:schemeClr val="bg1"/>
              </a:solidFill>
            </a:endParaRPr>
          </a:p>
          <a:p>
            <a:pPr marL="285750" indent="-285750">
              <a:buFontTx/>
              <a:buChar char="-"/>
            </a:pPr>
            <a:r>
              <a:rPr lang="en-US" sz="1600" dirty="0">
                <a:solidFill>
                  <a:schemeClr val="bg1"/>
                </a:solidFill>
              </a:rPr>
              <a:t>Trip Type: Round trip bookings have a significantly higher completion rate compared to one-way or circle trip bookings.</a:t>
            </a:r>
          </a:p>
          <a:p>
            <a:pPr marL="285750" indent="-285750">
              <a:buFontTx/>
              <a:buChar char="-"/>
            </a:pPr>
            <a:endParaRPr lang="en-US" sz="1600" dirty="0">
              <a:solidFill>
                <a:schemeClr val="bg1"/>
              </a:solidFill>
            </a:endParaRPr>
          </a:p>
          <a:p>
            <a:pPr marL="285750" indent="-285750">
              <a:buFontTx/>
              <a:buChar char="-"/>
            </a:pPr>
            <a:r>
              <a:rPr lang="en-US" sz="1600" dirty="0">
                <a:solidFill>
                  <a:schemeClr val="bg1"/>
                </a:solidFill>
              </a:rPr>
              <a:t>Route: The PENTPE route shows the highest booking completion rate among the displayed routes.</a:t>
            </a:r>
          </a:p>
          <a:p>
            <a:pPr marL="285750" indent="-285750">
              <a:buFontTx/>
              <a:buChar char="-"/>
            </a:pPr>
            <a:endParaRPr lang="en-US" sz="1600" dirty="0">
              <a:solidFill>
                <a:schemeClr val="bg1"/>
              </a:solidFill>
            </a:endParaRPr>
          </a:p>
          <a:p>
            <a:pPr marL="285750" indent="-285750">
              <a:buFontTx/>
              <a:buChar char="-"/>
            </a:pPr>
            <a:r>
              <a:rPr lang="en-US" sz="1600" dirty="0">
                <a:solidFill>
                  <a:schemeClr val="bg1"/>
                </a:solidFill>
              </a:rPr>
              <a:t>Booking Origin: Bookings originating from Malaysia have the highest completion rate, while those from Australia have the lowest.</a:t>
            </a:r>
            <a:endParaRPr lang="en-IN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96279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5248E0E-0244-4D4B-992E-D4C3A0672F49}"/>
              </a:ext>
            </a:extLst>
          </p:cNvPr>
          <p:cNvSpPr/>
          <p:nvPr/>
        </p:nvSpPr>
        <p:spPr>
          <a:xfrm>
            <a:off x="2943119" y="328910"/>
            <a:ext cx="592476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Feature Engineering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A8539DF-3C42-4646-82BA-BCD86952E9D0}"/>
              </a:ext>
            </a:extLst>
          </p:cNvPr>
          <p:cNvSpPr/>
          <p:nvPr/>
        </p:nvSpPr>
        <p:spPr>
          <a:xfrm>
            <a:off x="970597" y="2748260"/>
            <a:ext cx="9371733" cy="181588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marL="457200" indent="-457200">
              <a:buFontTx/>
              <a:buChar char="-"/>
            </a:pPr>
            <a:r>
              <a:rPr lang="en-US" sz="28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Transformed temporal features (weekday, flight hour)</a:t>
            </a:r>
          </a:p>
          <a:p>
            <a:pPr marL="457200" indent="-457200">
              <a:buFontTx/>
              <a:buChar char="-"/>
            </a:pPr>
            <a:r>
              <a:rPr lang="en-US" sz="28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Derived behavioral indicators from customer preferences</a:t>
            </a:r>
          </a:p>
          <a:p>
            <a:pPr marL="457200" indent="-457200">
              <a:buFontTx/>
              <a:buChar char="-"/>
            </a:pPr>
            <a:r>
              <a:rPr lang="en-US" sz="28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Ensured proper handling of numerical and binary variables</a:t>
            </a:r>
          </a:p>
          <a:p>
            <a:pPr marL="457200" indent="-457200">
              <a:buFontTx/>
              <a:buChar char="-"/>
            </a:pPr>
            <a:r>
              <a:rPr lang="en-US" sz="28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Prepared data for machine learning models</a:t>
            </a:r>
          </a:p>
        </p:txBody>
      </p:sp>
    </p:spTree>
    <p:extLst>
      <p:ext uri="{BB962C8B-B14F-4D97-AF65-F5344CB8AC3E}">
        <p14:creationId xmlns:p14="http://schemas.microsoft.com/office/powerpoint/2010/main" val="7060649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5248E0E-0244-4D4B-992E-D4C3A0672F49}"/>
              </a:ext>
            </a:extLst>
          </p:cNvPr>
          <p:cNvSpPr/>
          <p:nvPr/>
        </p:nvSpPr>
        <p:spPr>
          <a:xfrm>
            <a:off x="3591918" y="328910"/>
            <a:ext cx="462716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Models Trained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A8539DF-3C42-4646-82BA-BCD86952E9D0}"/>
              </a:ext>
            </a:extLst>
          </p:cNvPr>
          <p:cNvSpPr/>
          <p:nvPr/>
        </p:nvSpPr>
        <p:spPr>
          <a:xfrm>
            <a:off x="970597" y="2748260"/>
            <a:ext cx="5045677" cy="224676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marL="457200" indent="-457200">
              <a:buFontTx/>
              <a:buChar char="-"/>
            </a:pPr>
            <a:r>
              <a:rPr lang="en-US" sz="28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Logistic Regression (baseline)</a:t>
            </a:r>
          </a:p>
          <a:p>
            <a:pPr marL="457200" indent="-457200">
              <a:buFontTx/>
              <a:buChar char="-"/>
            </a:pPr>
            <a:r>
              <a:rPr lang="en-US" sz="28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Random Forest</a:t>
            </a:r>
          </a:p>
          <a:p>
            <a:pPr marL="457200" indent="-457200">
              <a:buFontTx/>
              <a:buChar char="-"/>
            </a:pPr>
            <a:r>
              <a:rPr lang="en-US" sz="2800" b="1" dirty="0" err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XGBoost</a:t>
            </a:r>
            <a:r>
              <a:rPr lang="en-US" sz="28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 Classifier</a:t>
            </a:r>
          </a:p>
          <a:p>
            <a:pPr marL="457200" indent="-457200">
              <a:buFontTx/>
              <a:buChar char="-"/>
            </a:pPr>
            <a:r>
              <a:rPr lang="en-US" sz="2800" b="1" dirty="0" err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LightGBM</a:t>
            </a:r>
            <a:r>
              <a:rPr lang="en-US" sz="28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 (Best Model)</a:t>
            </a:r>
          </a:p>
          <a:p>
            <a:pPr marL="457200" indent="-457200">
              <a:buFontTx/>
              <a:buChar char="-"/>
            </a:pPr>
            <a:endParaRPr lang="en-US" sz="28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8812634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5248E0E-0244-4D4B-992E-D4C3A0672F49}"/>
              </a:ext>
            </a:extLst>
          </p:cNvPr>
          <p:cNvSpPr/>
          <p:nvPr/>
        </p:nvSpPr>
        <p:spPr>
          <a:xfrm>
            <a:off x="2131422" y="328910"/>
            <a:ext cx="754815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Model Evaluation Metrics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F29D8C1-9E88-4795-B67D-7734784291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822" y="1797781"/>
            <a:ext cx="11534355" cy="4135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25707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8BE2F-4E4B-4989-9520-2668C8C247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Roc Curve and Precision Recall curve</a:t>
            </a:r>
            <a:endParaRPr lang="en-IN" dirty="0">
              <a:solidFill>
                <a:schemeClr val="bg1"/>
              </a:solidFill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BDDE3D5-68C2-4973-B5DC-78A998C2512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619" y="2035175"/>
            <a:ext cx="5723381" cy="4351338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A7950D7-39DE-448B-B8B0-EC72C52034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0612" y="2035175"/>
            <a:ext cx="5615414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25853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5248E0E-0244-4D4B-992E-D4C3A0672F49}"/>
              </a:ext>
            </a:extLst>
          </p:cNvPr>
          <p:cNvSpPr/>
          <p:nvPr/>
        </p:nvSpPr>
        <p:spPr>
          <a:xfrm>
            <a:off x="760281" y="328910"/>
            <a:ext cx="1029044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Hyperparameter Tuned Best Model</a:t>
            </a:r>
            <a:endParaRPr lang="en-US" sz="54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>
                <a:glow rad="228600">
                  <a:schemeClr val="accent2">
                    <a:satMod val="175000"/>
                    <a:alpha val="40000"/>
                  </a:schemeClr>
                </a:glow>
              </a:effectLst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A8539DF-3C42-4646-82BA-BCD86952E9D0}"/>
              </a:ext>
            </a:extLst>
          </p:cNvPr>
          <p:cNvSpPr/>
          <p:nvPr/>
        </p:nvSpPr>
        <p:spPr>
          <a:xfrm>
            <a:off x="970597" y="2748260"/>
            <a:ext cx="9655913" cy="310854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marL="457200" indent="-457200">
              <a:buFontTx/>
              <a:buChar char="-"/>
            </a:pPr>
            <a:r>
              <a:rPr lang="en-US" sz="28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Best Model: </a:t>
            </a:r>
            <a:r>
              <a:rPr lang="en-US" sz="2800" b="1" dirty="0" err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LightGBM</a:t>
            </a:r>
            <a:r>
              <a:rPr lang="en-US" sz="28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 Classifier</a:t>
            </a:r>
          </a:p>
          <a:p>
            <a:pPr marL="457200" indent="-457200">
              <a:buFontTx/>
              <a:buChar char="-"/>
            </a:pPr>
            <a:r>
              <a:rPr lang="en-US" sz="28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ROC-AUC: 0.7476</a:t>
            </a:r>
          </a:p>
          <a:p>
            <a:pPr marL="457200" indent="-457200">
              <a:buFontTx/>
              <a:buChar char="-"/>
            </a:pPr>
            <a:r>
              <a:rPr lang="en-US" sz="28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Recall: 0.69</a:t>
            </a:r>
          </a:p>
          <a:p>
            <a:pPr marL="457200" indent="-457200">
              <a:buFontTx/>
              <a:buChar char="-"/>
            </a:pPr>
            <a:r>
              <a:rPr lang="en-US" sz="28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F1-Score: 0.74</a:t>
            </a:r>
          </a:p>
          <a:p>
            <a:pPr marL="457200" indent="-457200">
              <a:buFontTx/>
              <a:buChar char="-"/>
            </a:pPr>
            <a:endParaRPr lang="en-US" sz="28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  <a:p>
            <a:r>
              <a:rPr lang="en-US" sz="28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Indicates strong ability to identify genuine booking completions</a:t>
            </a:r>
          </a:p>
          <a:p>
            <a:r>
              <a:rPr lang="en-US" sz="28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while minimizing missed opportunities</a:t>
            </a:r>
          </a:p>
        </p:txBody>
      </p:sp>
    </p:spTree>
    <p:extLst>
      <p:ext uri="{BB962C8B-B14F-4D97-AF65-F5344CB8AC3E}">
        <p14:creationId xmlns:p14="http://schemas.microsoft.com/office/powerpoint/2010/main" val="23395840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0E1873-EAE5-4195-ACE6-D390311210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325" y="18255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Top 20 feature Importance</a:t>
            </a:r>
            <a:endParaRPr lang="en-IN" dirty="0">
              <a:solidFill>
                <a:schemeClr val="bg1"/>
              </a:solidFill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5E0B4FF-AA6F-4C82-9C6D-4AA92056570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8625" y="1202131"/>
            <a:ext cx="6172200" cy="5501791"/>
          </a:xfrm>
        </p:spPr>
      </p:pic>
    </p:spTree>
    <p:extLst>
      <p:ext uri="{BB962C8B-B14F-4D97-AF65-F5344CB8AC3E}">
        <p14:creationId xmlns:p14="http://schemas.microsoft.com/office/powerpoint/2010/main" val="30051064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5248E0E-0244-4D4B-992E-D4C3A0672F49}"/>
              </a:ext>
            </a:extLst>
          </p:cNvPr>
          <p:cNvSpPr/>
          <p:nvPr/>
        </p:nvSpPr>
        <p:spPr>
          <a:xfrm>
            <a:off x="2550425" y="328910"/>
            <a:ext cx="671017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Deployed via </a:t>
            </a:r>
            <a:r>
              <a:rPr lang="en-US" sz="5400" b="1" cap="none" spc="0" dirty="0" err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Streamlit</a:t>
            </a:r>
            <a:endParaRPr lang="en-US" sz="54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>
                <a:glow rad="228600">
                  <a:schemeClr val="accent2">
                    <a:satMod val="175000"/>
                    <a:alpha val="40000"/>
                  </a:schemeClr>
                </a:glow>
              </a:effectLst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ADF3779-4F7C-4D0C-8A24-79B0BA2C65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6585" y="1832967"/>
            <a:ext cx="8348665" cy="469612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1AC9684-6FFD-48E6-846B-796F3FE53C9F}"/>
              </a:ext>
            </a:extLst>
          </p:cNvPr>
          <p:cNvSpPr txBox="1"/>
          <p:nvPr/>
        </p:nvSpPr>
        <p:spPr>
          <a:xfrm>
            <a:off x="352426" y="2228850"/>
            <a:ext cx="27527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Interface of the Project</a:t>
            </a: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80740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6B74FC3F-E4CA-484D-A2B4-2D52D5C15A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502399" cy="365759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DC4823E-D6D6-412B-B233-04D157BDD1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3000" y="3047999"/>
            <a:ext cx="6686550" cy="3761183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3F0628F6-ADD1-4ACC-B26B-00A19583DCC2}"/>
              </a:ext>
            </a:extLst>
          </p:cNvPr>
          <p:cNvSpPr txBox="1"/>
          <p:nvPr/>
        </p:nvSpPr>
        <p:spPr>
          <a:xfrm>
            <a:off x="7553325" y="485775"/>
            <a:ext cx="3028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Model predicted Positive</a:t>
            </a: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19079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1D7992F-8F37-4567-8A32-0964EDEB1E5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4125" y="-1"/>
            <a:ext cx="5857875" cy="3295055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A22C5C7-12E4-483F-9A38-0539A6E70B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009901"/>
            <a:ext cx="6841066" cy="384809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3BE9420-1318-447C-AB17-4DCC6DEA9F24}"/>
              </a:ext>
            </a:extLst>
          </p:cNvPr>
          <p:cNvSpPr txBox="1"/>
          <p:nvPr/>
        </p:nvSpPr>
        <p:spPr>
          <a:xfrm>
            <a:off x="1266825" y="1066800"/>
            <a:ext cx="3028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Model Predicted False</a:t>
            </a: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61765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5248E0E-0244-4D4B-992E-D4C3A0672F49}"/>
              </a:ext>
            </a:extLst>
          </p:cNvPr>
          <p:cNvSpPr/>
          <p:nvPr/>
        </p:nvSpPr>
        <p:spPr>
          <a:xfrm>
            <a:off x="986208" y="328910"/>
            <a:ext cx="983859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Business Interpretation of Results</a:t>
            </a:r>
            <a:endParaRPr lang="en-US" sz="54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>
                <a:glow rad="228600">
                  <a:schemeClr val="accent2">
                    <a:satMod val="175000"/>
                    <a:alpha val="40000"/>
                  </a:schemeClr>
                </a:glow>
              </a:effectLst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A8539DF-3C42-4646-82BA-BCD86952E9D0}"/>
              </a:ext>
            </a:extLst>
          </p:cNvPr>
          <p:cNvSpPr/>
          <p:nvPr/>
        </p:nvSpPr>
        <p:spPr>
          <a:xfrm>
            <a:off x="970597" y="2748260"/>
            <a:ext cx="8971559" cy="138499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marL="457200" indent="-457200">
              <a:buFontTx/>
              <a:buChar char="-"/>
            </a:pPr>
            <a:r>
              <a:rPr lang="en-US" sz="28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High recall ensures fewer genuine customers are missed</a:t>
            </a:r>
          </a:p>
          <a:p>
            <a:pPr marL="457200" indent="-457200">
              <a:buFontTx/>
              <a:buChar char="-"/>
            </a:pPr>
            <a:r>
              <a:rPr lang="en-US" sz="28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Balanced F1-score supports real-world decision-making</a:t>
            </a:r>
          </a:p>
          <a:p>
            <a:pPr marL="457200" indent="-457200">
              <a:buFontTx/>
              <a:buChar char="-"/>
            </a:pPr>
            <a:r>
              <a:rPr lang="en-US" sz="28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Model focuses on early abandonment detection</a:t>
            </a:r>
          </a:p>
        </p:txBody>
      </p:sp>
    </p:spTree>
    <p:extLst>
      <p:ext uri="{BB962C8B-B14F-4D97-AF65-F5344CB8AC3E}">
        <p14:creationId xmlns:p14="http://schemas.microsoft.com/office/powerpoint/2010/main" val="39923171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5248E0E-0244-4D4B-992E-D4C3A0672F49}"/>
              </a:ext>
            </a:extLst>
          </p:cNvPr>
          <p:cNvSpPr/>
          <p:nvPr/>
        </p:nvSpPr>
        <p:spPr>
          <a:xfrm>
            <a:off x="2846172" y="328910"/>
            <a:ext cx="611866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Real-World Use Case</a:t>
            </a:r>
            <a:endParaRPr lang="en-US" sz="54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>
                <a:glow rad="228600">
                  <a:schemeClr val="accent2">
                    <a:satMod val="175000"/>
                    <a:alpha val="40000"/>
                  </a:schemeClr>
                </a:glow>
              </a:effectLst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A8539DF-3C42-4646-82BA-BCD86952E9D0}"/>
              </a:ext>
            </a:extLst>
          </p:cNvPr>
          <p:cNvSpPr/>
          <p:nvPr/>
        </p:nvSpPr>
        <p:spPr>
          <a:xfrm>
            <a:off x="894397" y="1659285"/>
            <a:ext cx="8210774" cy="35394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sz="28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Example Scenario:</a:t>
            </a:r>
          </a:p>
          <a:p>
            <a:pPr marL="457200" indent="-457200">
              <a:buFontTx/>
              <a:buChar char="-"/>
            </a:pPr>
            <a:endParaRPr lang="en-US" sz="28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  <a:p>
            <a:pPr marL="457200" indent="-457200">
              <a:buFontTx/>
              <a:buChar char="-"/>
            </a:pPr>
            <a:r>
              <a:rPr lang="en-US" sz="28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Model flags a booking with high abandonment risk</a:t>
            </a:r>
          </a:p>
          <a:p>
            <a:pPr marL="457200" indent="-457200">
              <a:buFontTx/>
              <a:buChar char="-"/>
            </a:pPr>
            <a:r>
              <a:rPr lang="en-US" sz="28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System triggers:</a:t>
            </a:r>
          </a:p>
          <a:p>
            <a:pPr marL="914400" lvl="1" indent="-457200">
              <a:buFontTx/>
              <a:buChar char="-"/>
            </a:pPr>
            <a:r>
              <a:rPr lang="en-US" sz="28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Limited-time discount</a:t>
            </a:r>
          </a:p>
          <a:p>
            <a:pPr marL="914400" lvl="1" indent="-457200">
              <a:buFontTx/>
              <a:buChar char="-"/>
            </a:pPr>
            <a:r>
              <a:rPr lang="en-US" sz="28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Email or app notification</a:t>
            </a:r>
          </a:p>
          <a:p>
            <a:pPr lvl="1"/>
            <a:endParaRPr lang="en-US" sz="28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  <a:p>
            <a:pPr lvl="1"/>
            <a:r>
              <a:rPr lang="en-US" sz="28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Higher chance of booking completion</a:t>
            </a:r>
          </a:p>
        </p:txBody>
      </p:sp>
    </p:spTree>
    <p:extLst>
      <p:ext uri="{BB962C8B-B14F-4D97-AF65-F5344CB8AC3E}">
        <p14:creationId xmlns:p14="http://schemas.microsoft.com/office/powerpoint/2010/main" val="199092267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5248E0E-0244-4D4B-992E-D4C3A0672F49}"/>
              </a:ext>
            </a:extLst>
          </p:cNvPr>
          <p:cNvSpPr/>
          <p:nvPr/>
        </p:nvSpPr>
        <p:spPr>
          <a:xfrm>
            <a:off x="2677569" y="328910"/>
            <a:ext cx="645587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Future Enhancements</a:t>
            </a:r>
            <a:endParaRPr lang="en-US" sz="54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>
                <a:glow rad="228600">
                  <a:schemeClr val="accent2">
                    <a:satMod val="175000"/>
                    <a:alpha val="40000"/>
                  </a:schemeClr>
                </a:glow>
              </a:effectLst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A8539DF-3C42-4646-82BA-BCD86952E9D0}"/>
              </a:ext>
            </a:extLst>
          </p:cNvPr>
          <p:cNvSpPr/>
          <p:nvPr/>
        </p:nvSpPr>
        <p:spPr>
          <a:xfrm>
            <a:off x="1046797" y="2316510"/>
            <a:ext cx="7956473" cy="181588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marL="457200" indent="-457200">
              <a:buFontTx/>
              <a:buChar char="-"/>
            </a:pPr>
            <a:r>
              <a:rPr lang="en-US" sz="28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Real-time prediction during booking flow</a:t>
            </a:r>
          </a:p>
          <a:p>
            <a:pPr marL="457200" indent="-457200">
              <a:buFontTx/>
              <a:buChar char="-"/>
            </a:pPr>
            <a:r>
              <a:rPr lang="en-US" sz="28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Integration with customer loyalty data</a:t>
            </a:r>
          </a:p>
          <a:p>
            <a:pPr marL="457200" indent="-457200">
              <a:buFontTx/>
              <a:buChar char="-"/>
            </a:pPr>
            <a:r>
              <a:rPr lang="en-US" sz="28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Cost-sensitive modeling for high-value customers</a:t>
            </a:r>
          </a:p>
          <a:p>
            <a:pPr marL="457200" indent="-457200">
              <a:buFontTx/>
              <a:buChar char="-"/>
            </a:pPr>
            <a:r>
              <a:rPr lang="en-US" sz="28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Deployment as an API or dashboard</a:t>
            </a:r>
          </a:p>
        </p:txBody>
      </p:sp>
    </p:spTree>
    <p:extLst>
      <p:ext uri="{BB962C8B-B14F-4D97-AF65-F5344CB8AC3E}">
        <p14:creationId xmlns:p14="http://schemas.microsoft.com/office/powerpoint/2010/main" val="11968926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5248E0E-0244-4D4B-992E-D4C3A0672F49}"/>
              </a:ext>
            </a:extLst>
          </p:cNvPr>
          <p:cNvSpPr/>
          <p:nvPr/>
        </p:nvSpPr>
        <p:spPr>
          <a:xfrm>
            <a:off x="2987461" y="328910"/>
            <a:ext cx="583608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Acknowledgements</a:t>
            </a:r>
            <a:endParaRPr lang="en-US" sz="54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>
                <a:glow rad="228600">
                  <a:schemeClr val="accent2">
                    <a:satMod val="175000"/>
                    <a:alpha val="40000"/>
                  </a:schemeClr>
                </a:glow>
              </a:effectLst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A8539DF-3C42-4646-82BA-BCD86952E9D0}"/>
              </a:ext>
            </a:extLst>
          </p:cNvPr>
          <p:cNvSpPr/>
          <p:nvPr/>
        </p:nvSpPr>
        <p:spPr>
          <a:xfrm>
            <a:off x="1122997" y="2487960"/>
            <a:ext cx="7255897" cy="138499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marL="457200" indent="-457200">
              <a:buFontTx/>
              <a:buChar char="-"/>
            </a:pPr>
            <a:r>
              <a:rPr lang="en-US" sz="28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British Airways – Dataset &amp; business context</a:t>
            </a:r>
          </a:p>
          <a:p>
            <a:pPr marL="457200" indent="-457200">
              <a:buFontTx/>
              <a:buChar char="-"/>
            </a:pPr>
            <a:r>
              <a:rPr lang="en-US" sz="28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Forage – Project framework</a:t>
            </a:r>
          </a:p>
          <a:p>
            <a:pPr marL="457200" indent="-457200">
              <a:buFontTx/>
              <a:buChar char="-"/>
            </a:pPr>
            <a:r>
              <a:rPr lang="en-US" sz="28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Open-source Python &amp; ML community</a:t>
            </a:r>
          </a:p>
        </p:txBody>
      </p:sp>
    </p:spTree>
    <p:extLst>
      <p:ext uri="{BB962C8B-B14F-4D97-AF65-F5344CB8AC3E}">
        <p14:creationId xmlns:p14="http://schemas.microsoft.com/office/powerpoint/2010/main" val="2259892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</TotalTime>
  <Words>823</Words>
  <Application>Microsoft Office PowerPoint</Application>
  <PresentationFormat>Widescreen</PresentationFormat>
  <Paragraphs>112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HeatMap</vt:lpstr>
      <vt:lpstr>Categorical Columns vs Booking Completion</vt:lpstr>
      <vt:lpstr>PowerPoint Presentation</vt:lpstr>
      <vt:lpstr>PowerPoint Presentation</vt:lpstr>
      <vt:lpstr>PowerPoint Presentation</vt:lpstr>
      <vt:lpstr>Roc Curve and Precision Recall curve</vt:lpstr>
      <vt:lpstr>PowerPoint Presentation</vt:lpstr>
      <vt:lpstr>Top 20 feature Importance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SONALI RAWAT</dc:creator>
  <cp:lastModifiedBy>SONALI RAWAT</cp:lastModifiedBy>
  <cp:revision>9</cp:revision>
  <dcterms:created xsi:type="dcterms:W3CDTF">2025-12-26T12:03:11Z</dcterms:created>
  <dcterms:modified xsi:type="dcterms:W3CDTF">2025-12-26T13:22:13Z</dcterms:modified>
</cp:coreProperties>
</file>